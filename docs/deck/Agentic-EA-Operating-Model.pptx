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560320"/>
            <a:ext cx="6400800" cy="6400800"/>
          </a:xfrm>
          <a:prstGeom prst="ellipse">
            <a:avLst/>
          </a:prstGeom>
          <a:solidFill>
            <a:srgbClr val="7FB3C2">
              <a:alpha val="10000"/>
            </a:srgbClr>
          </a:solidFill>
          <a:ln>
            <a:solidFill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286000" y="3200400"/>
            <a:ext cx="5486400" cy="5486400"/>
          </a:xfrm>
          <a:prstGeom prst="ellipse">
            <a:avLst/>
          </a:prstGeom>
          <a:solidFill>
            <a:srgbClr val="A8A17B">
              <a:alpha val="10000"/>
            </a:srgbClr>
          </a:solidFill>
          <a:ln>
            <a:solidFill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371600"/>
            <a:ext cx="731520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A8CC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ENTERPRISE ARCHITECTURE · OPERATING MODEL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737360"/>
            <a:ext cx="9601200" cy="19202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Poppins" pitchFamily="34" charset="0"/>
                <a:ea typeface="Cambria" pitchFamily="34" charset="-122"/>
                <a:cs typeface="Cambria" pitchFamily="34" charset="-120"/>
              </a:rPr>
              <a:t>Five clock speeds.</a:t>
            </a:r>
            <a:endParaRPr lang="en-US" sz="4200" dirty="0"/>
          </a:p>
          <a:p>
            <a:pPr indent="0" marL="0">
              <a:buNone/>
            </a:pPr>
            <a:r>
              <a:rPr lang="en-US" sz="4200" b="1" i="1" dirty="0">
                <a:solidFill>
                  <a:srgbClr val="5FA8CC"/>
                </a:solidFill>
                <a:latin typeface="Poppins" pitchFamily="34" charset="0"/>
                <a:ea typeface="Cambria" pitchFamily="34" charset="-122"/>
                <a:cs typeface="Cambria" pitchFamily="34" charset="-120"/>
              </a:rPr>
              <a:t>One continuous practice.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7772400" cy="9144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A multi-cadence agent mesh for continuous EA governance — Daily, Weekly, Monthly, Quarterly and Yearly loops running the twelve core artefacts of the practice.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1636295" cy="384048"/>
          </a:xfrm>
          <a:prstGeom prst="roundRect">
            <a:avLst>
              <a:gd name="adj" fmla="val 50000"/>
            </a:avLst>
          </a:prstGeom>
          <a:solidFill>
            <a:srgbClr val="2A363B"/>
          </a:solidFill>
          <a:ln w="12700">
            <a:solidFill>
              <a:srgbClr val="545E6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4892040"/>
            <a:ext cx="1636295" cy="38404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12 ARTEFACTS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40967" y="4892040"/>
            <a:ext cx="1318661" cy="384048"/>
          </a:xfrm>
          <a:prstGeom prst="roundRect">
            <a:avLst>
              <a:gd name="adj" fmla="val 50000"/>
            </a:avLst>
          </a:prstGeom>
          <a:solidFill>
            <a:srgbClr val="2A363B"/>
          </a:solidFill>
          <a:ln w="12700">
            <a:solidFill>
              <a:srgbClr val="545E6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440967" y="4892040"/>
            <a:ext cx="1318661" cy="38404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13 AGENTS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924220" y="4892040"/>
            <a:ext cx="1424539" cy="384048"/>
          </a:xfrm>
          <a:prstGeom prst="roundRect">
            <a:avLst>
              <a:gd name="adj" fmla="val 50000"/>
            </a:avLst>
          </a:prstGeom>
          <a:solidFill>
            <a:srgbClr val="2A363B"/>
          </a:solidFill>
          <a:ln w="12700">
            <a:solidFill>
              <a:srgbClr val="545E6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924220" y="4892040"/>
            <a:ext cx="1424539" cy="38404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5 CADENCES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13351" y="4892040"/>
            <a:ext cx="2483318" cy="384048"/>
          </a:xfrm>
          <a:prstGeom prst="roundRect">
            <a:avLst>
              <a:gd name="adj" fmla="val 50000"/>
            </a:avLst>
          </a:prstGeom>
          <a:solidFill>
            <a:srgbClr val="2A363B"/>
          </a:solidFill>
          <a:ln w="12700">
            <a:solidFill>
              <a:srgbClr val="545E6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513351" y="4892040"/>
            <a:ext cx="2483318" cy="38404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100" kern="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8 STAKEHOLDER GROUPS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6263640"/>
            <a:ext cx="9144000" cy="2743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Prepared for Executive Review  ·  Solution Architecture, Engineering, Product, Risk &amp; Commercial Committees</a:t>
            </a:r>
            <a:endParaRPr lang="en-US" sz="1050" dirty="0"/>
          </a:p>
        </p:txBody>
      </p:sp>
      <p:pic>
        <p:nvPicPr>
          <p:cNvPr id="16" name="Picture 15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3360" y="274320"/>
            <a:ext cx="402551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F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A8CC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oppins" pitchFamily="34" charset="0"/>
                <a:ea typeface="Cambria" pitchFamily="34" charset="-122"/>
                <a:cs typeface="Cambria" pitchFamily="34" charset="-120"/>
              </a:rPr>
              <a:t>EA governance runs on committee time. Technology change doesn't.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4297680"/>
          </a:xfrm>
          <a:prstGeom prst="roundRect">
            <a:avLst>
              <a:gd name="adj" fmla="val 1915"/>
            </a:avLst>
          </a:prstGeom>
          <a:solidFill>
            <a:srgbClr val="2C3234"/>
          </a:solidFill>
          <a:ln w="12700">
            <a:solidFill>
              <a:srgbClr val="545E6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2011680"/>
            <a:ext cx="475488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7BEC2"/>
                </a:solidFill>
                <a:latin typeface="Poppins" pitchFamily="34" charset="0"/>
                <a:ea typeface="Cambria" pitchFamily="34" charset="-122"/>
                <a:cs typeface="Cambria" pitchFamily="34" charset="-120"/>
              </a:rPr>
              <a:t>Traditional EA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4754880" cy="329184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Point-in-time landscape audits, stale within weeks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Quarterly or annual blueprint refresh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Governance gates enforced manually, inconsistently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Portfolio and roadmap reviews reactive, not continuous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Provenance lives in someone's memory, not a log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394960" cy="4297680"/>
          </a:xfrm>
          <a:prstGeom prst="roundRect">
            <a:avLst>
              <a:gd name="adj" fmla="val 1915"/>
            </a:avLst>
          </a:prstGeom>
          <a:solidFill>
            <a:srgbClr val="3F474A"/>
          </a:solidFill>
          <a:ln w="12700">
            <a:solidFill>
              <a:srgbClr val="545E6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37960" y="2011680"/>
            <a:ext cx="475488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FA8CC"/>
                </a:solidFill>
                <a:latin typeface="Poppins" pitchFamily="34" charset="0"/>
                <a:ea typeface="Cambria" pitchFamily="34" charset="-122"/>
                <a:cs typeface="Cambria" pitchFamily="34" charset="-120"/>
              </a:rPr>
              <a:t>Agentic EA Mesh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37960" y="2606040"/>
            <a:ext cx="4754880" cy="329184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Continuous telemetry — landscape reflects reality daily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Annual blueprint synthesised from a full year of real signal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Policy-as-code gates applied identically, every time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Portfolio rebalancing (TIME) runs monthly as a standing cycle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Every decision cites its data source and policy version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AGENTIC EA OPERATING MODEL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pic>
        <p:nvPicPr>
          <p:cNvPr id="12" name="Picture 11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3360" y="274320"/>
            <a:ext cx="402551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F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A8CC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CORE PRINCIPLE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6400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oppins" pitchFamily="34" charset="0"/>
                <a:ea typeface="Cambria" pitchFamily="34" charset="-122"/>
                <a:cs typeface="Cambria" pitchFamily="34" charset="-120"/>
              </a:rPr>
              <a:t>Not five silos. One mesh with five clock speeds.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9144000" cy="36576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Faster loops generate signal upward. Slower loops set constraints back down.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0424160" cy="658368"/>
          </a:xfrm>
          <a:prstGeom prst="roundRect">
            <a:avLst>
              <a:gd name="adj" fmla="val 13889"/>
            </a:avLst>
          </a:prstGeom>
          <a:solidFill>
            <a:srgbClr val="2A363B"/>
          </a:solidFill>
          <a:ln w="19050">
            <a:solidFill>
              <a:srgbClr val="A8A17B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13232" y="2139696"/>
            <a:ext cx="219456" cy="219456"/>
          </a:xfrm>
          <a:prstGeom prst="ellipse">
            <a:avLst/>
          </a:prstGeom>
          <a:solidFill>
            <a:srgbClr val="A8A17B"/>
          </a:solidFill>
          <a:ln>
            <a:solidFill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51560" y="1920240"/>
            <a:ext cx="2011680" cy="6583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YEARLY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0" y="1920240"/>
            <a:ext cx="1828800" cy="6583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A8A17B"/>
                </a:solidFill>
                <a:latin typeface="Poppins" pitchFamily="34" charset="0"/>
                <a:ea typeface="Cambria" pitchFamily="34" charset="-122"/>
                <a:cs typeface="Cambria" pitchFamily="34" charset="-120"/>
              </a:rPr>
              <a:t>Reset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97280" y="2706624"/>
            <a:ext cx="9326880" cy="658368"/>
          </a:xfrm>
          <a:prstGeom prst="roundRect">
            <a:avLst>
              <a:gd name="adj" fmla="val 13889"/>
            </a:avLst>
          </a:prstGeom>
          <a:solidFill>
            <a:srgbClr val="2A363B"/>
          </a:solidFill>
          <a:ln w="19050">
            <a:solidFill>
              <a:srgbClr val="E08585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261872" y="2926080"/>
            <a:ext cx="219456" cy="219456"/>
          </a:xfrm>
          <a:prstGeom prst="ellipse">
            <a:avLst/>
          </a:prstGeom>
          <a:solidFill>
            <a:srgbClr val="E08585"/>
          </a:solidFill>
          <a:ln>
            <a:solidFill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600200" y="2706624"/>
            <a:ext cx="2011680" cy="6583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0" y="2706624"/>
            <a:ext cx="1828800" cy="6583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E08585"/>
                </a:solidFill>
                <a:latin typeface="Poppins" pitchFamily="34" charset="0"/>
                <a:ea typeface="Cambria" pitchFamily="34" charset="-122"/>
                <a:cs typeface="Cambria" pitchFamily="34" charset="-120"/>
              </a:rPr>
              <a:t>Realign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645920" y="3493008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2A363B"/>
          </a:solidFill>
          <a:ln w="19050">
            <a:solidFill>
              <a:srgbClr val="E3A253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810512" y="3712464"/>
            <a:ext cx="219456" cy="219456"/>
          </a:xfrm>
          <a:prstGeom prst="ellipse">
            <a:avLst/>
          </a:prstGeom>
          <a:solidFill>
            <a:srgbClr val="E3A253"/>
          </a:solidFill>
          <a:ln>
            <a:solidFill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148840" y="3493008"/>
            <a:ext cx="2011680" cy="6583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863840" y="3493008"/>
            <a:ext cx="1828800" cy="6583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E3A253"/>
                </a:solidFill>
                <a:latin typeface="Poppins" pitchFamily="34" charset="0"/>
                <a:ea typeface="Cambria" pitchFamily="34" charset="-122"/>
                <a:cs typeface="Cambria" pitchFamily="34" charset="-120"/>
              </a:rPr>
              <a:t>Adjust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194560" y="4279392"/>
            <a:ext cx="7132320" cy="658368"/>
          </a:xfrm>
          <a:prstGeom prst="roundRect">
            <a:avLst>
              <a:gd name="adj" fmla="val 13889"/>
            </a:avLst>
          </a:prstGeom>
          <a:solidFill>
            <a:srgbClr val="2A363B"/>
          </a:solidFill>
          <a:ln w="19050">
            <a:solidFill>
              <a:srgbClr val="6FBF8B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2359152" y="4498848"/>
            <a:ext cx="219456" cy="219456"/>
          </a:xfrm>
          <a:prstGeom prst="ellipse">
            <a:avLst/>
          </a:prstGeom>
          <a:solidFill>
            <a:srgbClr val="6FBF8B"/>
          </a:solidFill>
          <a:ln>
            <a:solidFill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697480" y="4279392"/>
            <a:ext cx="2011680" cy="6583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0" y="4279392"/>
            <a:ext cx="1828800" cy="6583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6FBF8B"/>
                </a:solidFill>
                <a:latin typeface="Poppins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743200" y="5065776"/>
            <a:ext cx="6035040" cy="658368"/>
          </a:xfrm>
          <a:prstGeom prst="roundRect">
            <a:avLst>
              <a:gd name="adj" fmla="val 13889"/>
            </a:avLst>
          </a:prstGeom>
          <a:solidFill>
            <a:srgbClr val="2A363B"/>
          </a:solidFill>
          <a:ln w="19050">
            <a:solidFill>
              <a:srgbClr val="7FB3C2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2907792" y="5285232"/>
            <a:ext cx="219456" cy="219456"/>
          </a:xfrm>
          <a:prstGeom prst="ellipse">
            <a:avLst/>
          </a:prstGeom>
          <a:solidFill>
            <a:srgbClr val="7FB3C2"/>
          </a:solidFill>
          <a:ln>
            <a:solidFill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246120" y="5065776"/>
            <a:ext cx="2011680" cy="6583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66560" y="5065776"/>
            <a:ext cx="1828800" cy="6583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i="1" dirty="0">
                <a:solidFill>
                  <a:srgbClr val="7FB3C2"/>
                </a:solidFill>
                <a:latin typeface="Poppins" pitchFamily="34" charset="0"/>
                <a:ea typeface="Cambria" pitchFamily="34" charset="-122"/>
                <a:cs typeface="Cambria" pitchFamily="34" charset="-120"/>
              </a:rPr>
              <a:t>Sense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8640" y="5989320"/>
            <a:ext cx="731520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FB3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Signal </a:t>
            </a:r>
            <a:pPr indent="0" marL="0">
              <a:buNone/>
            </a:pPr>
            <a:r>
              <a:rPr lang="en-US" sz="125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flows up · </a:t>
            </a:r>
            <a:pPr indent="0" marL="0">
              <a:buNone/>
            </a:pPr>
            <a:r>
              <a:rPr lang="en-US" sz="1250" b="1" dirty="0">
                <a:solidFill>
                  <a:srgbClr val="A8A17B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Constraints </a:t>
            </a:r>
            <a:pPr indent="0" marL="0">
              <a:buNone/>
            </a:pPr>
            <a:r>
              <a:rPr lang="en-US" sz="125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flow down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AGENTIC EA OPERATING MODEL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28" name="Picture 27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3360" y="274320"/>
            <a:ext cx="402551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F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A8CC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THE FIVE LOOPS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5943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Poppins" pitchFamily="34" charset="0"/>
                <a:ea typeface="Cambria" pitchFamily="34" charset="-122"/>
                <a:cs typeface="Cambria" pitchFamily="34" charset="-120"/>
              </a:rPr>
              <a:t>Sense, review, adjust, realign, reset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121408" cy="4526280"/>
          </a:xfrm>
          <a:prstGeom prst="roundRect">
            <a:avLst>
              <a:gd name="adj" fmla="val 3879"/>
            </a:avLst>
          </a:prstGeom>
          <a:solidFill>
            <a:srgbClr val="2A363B"/>
          </a:solidFill>
          <a:ln w="12700">
            <a:solidFill>
              <a:srgbClr val="545E6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2121408" cy="82296"/>
          </a:xfrm>
          <a:prstGeom prst="rect">
            <a:avLst/>
          </a:prstGeom>
          <a:solidFill>
            <a:srgbClr val="7FB3C2"/>
          </a:solidFill>
          <a:ln>
            <a:solidFill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783080"/>
            <a:ext cx="175564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7FB3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1755648" cy="5029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Cambria" pitchFamily="34" charset="-122"/>
                <a:cs typeface="Cambria" pitchFamily="34" charset="-120"/>
              </a:rPr>
              <a:t>Sense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1755648" cy="15544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Continuous telemetry. No human decision unless a threshold breaches.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5212080"/>
            <a:ext cx="1755648" cy="2286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5440680"/>
            <a:ext cx="1755648" cy="5029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Health, Gate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98064" y="1508760"/>
            <a:ext cx="2121408" cy="4526280"/>
          </a:xfrm>
          <a:prstGeom prst="roundRect">
            <a:avLst>
              <a:gd name="adj" fmla="val 3879"/>
            </a:avLst>
          </a:prstGeom>
          <a:solidFill>
            <a:srgbClr val="2A363B"/>
          </a:solidFill>
          <a:ln w="12700">
            <a:solidFill>
              <a:srgbClr val="545E63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798064" y="1508760"/>
            <a:ext cx="2121408" cy="82296"/>
          </a:xfrm>
          <a:prstGeom prst="rect">
            <a:avLst/>
          </a:prstGeom>
          <a:solidFill>
            <a:srgbClr val="6FBF8B"/>
          </a:solidFill>
          <a:ln>
            <a:solidFill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980944" y="1783080"/>
            <a:ext cx="175564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FBF8B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80944" y="2057400"/>
            <a:ext cx="1755648" cy="5029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980944" y="2697480"/>
            <a:ext cx="1755648" cy="15544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Design-time governance and landscape accuracy.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980944" y="5212080"/>
            <a:ext cx="1755648" cy="2286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80944" y="5440680"/>
            <a:ext cx="1755648" cy="5029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Landscape, Assessment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47488" y="1508760"/>
            <a:ext cx="2121408" cy="4526280"/>
          </a:xfrm>
          <a:prstGeom prst="roundRect">
            <a:avLst>
              <a:gd name="adj" fmla="val 3879"/>
            </a:avLst>
          </a:prstGeom>
          <a:solidFill>
            <a:srgbClr val="2A363B"/>
          </a:solidFill>
          <a:ln w="12700">
            <a:solidFill>
              <a:srgbClr val="545E63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047488" y="1508760"/>
            <a:ext cx="2121408" cy="82296"/>
          </a:xfrm>
          <a:prstGeom prst="rect">
            <a:avLst/>
          </a:prstGeom>
          <a:solidFill>
            <a:srgbClr val="E3A253"/>
          </a:solidFill>
          <a:ln>
            <a:solidFill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230368" y="1783080"/>
            <a:ext cx="175564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3A253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30368" y="2057400"/>
            <a:ext cx="1755648" cy="5029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Cambria" pitchFamily="34" charset="-122"/>
                <a:cs typeface="Cambria" pitchFamily="34" charset="-120"/>
              </a:rPr>
              <a:t>Adjust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230368" y="2697480"/>
            <a:ext cx="1755648" cy="15544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Tactical rebalancing of investment and delivery.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230368" y="5212080"/>
            <a:ext cx="1755648" cy="2286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30368" y="5440680"/>
            <a:ext cx="1755648" cy="5029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Portfolio, Roadmap, Pattern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296912" y="1508760"/>
            <a:ext cx="2121408" cy="4526280"/>
          </a:xfrm>
          <a:prstGeom prst="roundRect">
            <a:avLst>
              <a:gd name="adj" fmla="val 3879"/>
            </a:avLst>
          </a:prstGeom>
          <a:solidFill>
            <a:srgbClr val="2A363B"/>
          </a:solidFill>
          <a:ln w="12700">
            <a:solidFill>
              <a:srgbClr val="545E63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296912" y="1508760"/>
            <a:ext cx="2121408" cy="82296"/>
          </a:xfrm>
          <a:prstGeom prst="rect">
            <a:avLst/>
          </a:prstGeom>
          <a:solidFill>
            <a:srgbClr val="E08585"/>
          </a:solidFill>
          <a:ln>
            <a:solidFill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7479792" y="1783080"/>
            <a:ext cx="175564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08585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79792" y="2057400"/>
            <a:ext cx="1755648" cy="5029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Cambria" pitchFamily="34" charset="-122"/>
                <a:cs typeface="Cambria" pitchFamily="34" charset="-120"/>
              </a:rPr>
              <a:t>Realign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479792" y="2697480"/>
            <a:ext cx="1755648" cy="15544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Formal governance and strategic recalibration.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479792" y="5212080"/>
            <a:ext cx="1755648" cy="2286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479792" y="5440680"/>
            <a:ext cx="1755648" cy="5029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Capability, Principles, Transformation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546336" y="1508760"/>
            <a:ext cx="2121408" cy="4526280"/>
          </a:xfrm>
          <a:prstGeom prst="roundRect">
            <a:avLst>
              <a:gd name="adj" fmla="val 3879"/>
            </a:avLst>
          </a:prstGeom>
          <a:solidFill>
            <a:srgbClr val="2A363B"/>
          </a:solidFill>
          <a:ln w="12700">
            <a:solidFill>
              <a:srgbClr val="545E63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9546336" y="1508760"/>
            <a:ext cx="2121408" cy="82296"/>
          </a:xfrm>
          <a:prstGeom prst="rect">
            <a:avLst/>
          </a:prstGeom>
          <a:solidFill>
            <a:srgbClr val="A8A17B"/>
          </a:solidFill>
          <a:ln>
            <a:solidFill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9729216" y="1783080"/>
            <a:ext cx="175564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A8A17B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YEARLY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729216" y="2057400"/>
            <a:ext cx="1755648" cy="5029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Cambria" pitchFamily="34" charset="-122"/>
                <a:cs typeface="Cambria" pitchFamily="34" charset="-120"/>
              </a:rPr>
              <a:t>Reset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9729216" y="2697480"/>
            <a:ext cx="1755648" cy="155448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Strategic reset — synthesis into direction-setting artefacts.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729216" y="5212080"/>
            <a:ext cx="1755648" cy="2286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729216" y="5440680"/>
            <a:ext cx="1755648" cy="5029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Blueprint, Narrative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AGENTIC EA OPERATING MODEL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41" name="Picture 40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3360" y="274320"/>
            <a:ext cx="402551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F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A8CC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ARTEFACT OWNERSHIP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9144000" cy="5029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Cambria" pitchFamily="34" charset="-122"/>
                <a:cs typeface="Cambria" pitchFamily="34" charset="-120"/>
              </a:rPr>
              <a:t>Artefact-to-cadence matrix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5120640"/>
        </p:xfrm>
        <a:graphic>
          <a:graphicData uri="http://schemas.openxmlformats.org/drawingml/2006/table">
            <a:tbl>
              <a:tblPr/>
              <a:tblGrid>
                <a:gridCol w="4114800"/>
                <a:gridCol w="1426464"/>
                <a:gridCol w="1426464"/>
                <a:gridCol w="1426464"/>
                <a:gridCol w="1426464"/>
                <a:gridCol w="1426464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B7BEC2"/>
                          </a:solidFill>
                          <a:latin typeface="Inter" pitchFamily="34" charset="0"/>
                          <a:ea typeface="Calibri" pitchFamily="34" charset="-122"/>
                          <a:cs typeface="Calibri" pitchFamily="34" charset="-120"/>
                        </a:rPr>
                        <a:t>ARTEFACT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2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7FB3C2"/>
                          </a:solidFill>
                          <a:latin typeface="Inter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2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6FBF8B"/>
                          </a:solidFill>
                          <a:latin typeface="Inter" pitchFamily="34" charset="0"/>
                          <a:ea typeface="Calibri" pitchFamily="34" charset="-122"/>
                          <a:cs typeface="Calibri" pitchFamily="34" charset="-120"/>
                        </a:rPr>
                        <a:t>WEEKLY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2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3A253"/>
                          </a:solidFill>
                          <a:latin typeface="Inter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2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08585"/>
                          </a:solidFill>
                          <a:latin typeface="Inter" pitchFamily="34" charset="0"/>
                          <a:ea typeface="Calibri" pitchFamily="34" charset="-122"/>
                          <a:cs typeface="Calibri" pitchFamily="34" charset="-120"/>
                        </a:rPr>
                        <a:t>QUARTERLY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2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A17B"/>
                          </a:solidFill>
                          <a:latin typeface="Inter" pitchFamily="34" charset="0"/>
                          <a:ea typeface="Calibri" pitchFamily="34" charset="-122"/>
                          <a:cs typeface="Calibri" pitchFamily="34" charset="-120"/>
                        </a:rPr>
                        <a:t>YEARLY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23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Inter" pitchFamily="34" charset="0"/>
                          <a:ea typeface="Calibri" pitchFamily="34" charset="-122"/>
                          <a:cs typeface="Calibri" pitchFamily="34" charset="-120"/>
                        </a:rPr>
                        <a:t>Business Capability Maps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6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85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63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Inter" pitchFamily="34" charset="0"/>
                          <a:ea typeface="Calibri" pitchFamily="34" charset="-122"/>
                          <a:cs typeface="Calibri" pitchFamily="34" charset="-120"/>
                        </a:rPr>
                        <a:t>Technology Landscape Maps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BF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Inter" pitchFamily="34" charset="0"/>
                          <a:ea typeface="Calibri" pitchFamily="34" charset="-122"/>
                          <a:cs typeface="Calibri" pitchFamily="34" charset="-120"/>
                        </a:rPr>
                        <a:t>Asset Portfolios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A2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6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Inter" pitchFamily="34" charset="0"/>
                          <a:ea typeface="Calibri" pitchFamily="34" charset="-122"/>
                          <a:cs typeface="Calibri" pitchFamily="34" charset="-120"/>
                        </a:rPr>
                        <a:t>Asset Roadmaps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6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85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Inter" pitchFamily="34" charset="0"/>
                          <a:ea typeface="Calibri" pitchFamily="34" charset="-122"/>
                          <a:cs typeface="Calibri" pitchFamily="34" charset="-120"/>
                        </a:rPr>
                        <a:t>Asset Health Assessments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B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6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Inter" pitchFamily="34" charset="0"/>
                          <a:ea typeface="Calibri" pitchFamily="34" charset="-122"/>
                          <a:cs typeface="Calibri" pitchFamily="34" charset="-120"/>
                        </a:rPr>
                        <a:t>Architecture Principles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6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A17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Inter" pitchFamily="34" charset="0"/>
                          <a:ea typeface="Calibri" pitchFamily="34" charset="-122"/>
                          <a:cs typeface="Calibri" pitchFamily="34" charset="-120"/>
                        </a:rPr>
                        <a:t>Architecture Patterns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A25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Inter" pitchFamily="34" charset="0"/>
                          <a:ea typeface="Calibri" pitchFamily="34" charset="-122"/>
                          <a:cs typeface="Calibri" pitchFamily="34" charset="-120"/>
                        </a:rPr>
                        <a:t>Architecture Governance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B3C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6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85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Inter" pitchFamily="34" charset="0"/>
                          <a:ea typeface="Calibri" pitchFamily="34" charset="-122"/>
                          <a:cs typeface="Calibri" pitchFamily="34" charset="-120"/>
                        </a:rPr>
                        <a:t>Architecture Assessments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FBF8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Inter" pitchFamily="34" charset="0"/>
                          <a:ea typeface="Calibri" pitchFamily="34" charset="-122"/>
                          <a:cs typeface="Calibri" pitchFamily="34" charset="-120"/>
                        </a:rPr>
                        <a:t>Strategy Transformations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858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A17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Inter" pitchFamily="34" charset="0"/>
                          <a:ea typeface="Calibri" pitchFamily="34" charset="-122"/>
                          <a:cs typeface="Calibri" pitchFamily="34" charset="-120"/>
                        </a:rPr>
                        <a:t>Strategy White Papers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A17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Inter" pitchFamily="34" charset="0"/>
                          <a:ea typeface="Calibri" pitchFamily="34" charset="-122"/>
                          <a:cs typeface="Calibri" pitchFamily="34" charset="-120"/>
                        </a:rPr>
                        <a:t>Enterprise Architecture Blueprint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F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6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B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A17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382512"/>
            <a:ext cx="5486400" cy="2743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Solid = primary cadence   ·   Muted = secondary touch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7" name="Picture 6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3360" y="274320"/>
            <a:ext cx="402551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F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A8CC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THE MESH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144000" cy="5029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oppins" pitchFamily="34" charset="0"/>
                <a:ea typeface="Cambria" pitchFamily="34" charset="-122"/>
                <a:cs typeface="Cambria" pitchFamily="34" charset="-120"/>
              </a:rPr>
              <a:t>Thirteen agents, one orchestrator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3F474A"/>
          </a:solidFill>
          <a:ln w="12700">
            <a:solidFill>
              <a:srgbClr val="5FA8CC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1399032"/>
            <a:ext cx="402336" cy="402336"/>
          </a:xfrm>
          <a:prstGeom prst="ellipse">
            <a:avLst/>
          </a:prstGeom>
          <a:solidFill>
            <a:srgbClr val="5FA8CC"/>
          </a:solidFill>
          <a:ln>
            <a:solidFill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399032"/>
            <a:ext cx="402336" cy="40233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F21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25880" y="1280160"/>
            <a:ext cx="27432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FA8CC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Orchestrator Agent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325880" y="1536192"/>
            <a:ext cx="996696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Sequences the five loops, routes outputs to the right stakeholder, manages escalation between cadences.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2724912" cy="1481328"/>
          </a:xfrm>
          <a:prstGeom prst="roundRect">
            <a:avLst>
              <a:gd name="adj" fmla="val 4321"/>
            </a:avLst>
          </a:prstGeom>
          <a:solidFill>
            <a:srgbClr val="2A363B"/>
          </a:solidFill>
          <a:ln w="12700">
            <a:solidFill>
              <a:srgbClr val="545E63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13232" y="2313432"/>
            <a:ext cx="365760" cy="365760"/>
          </a:xfrm>
          <a:prstGeom prst="ellipse">
            <a:avLst/>
          </a:prstGeom>
          <a:solidFill>
            <a:srgbClr val="7FB3C2"/>
          </a:solidFill>
          <a:ln>
            <a:solidFill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13232" y="2313432"/>
            <a:ext cx="36576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F21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HE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70432" y="2276856"/>
            <a:ext cx="1947672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Health Agent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13232" y="2770632"/>
            <a:ext cx="2395728" cy="77724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Asset telemetry — EOL, vulnerability, performance.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28416" y="2148840"/>
            <a:ext cx="2724912" cy="1481328"/>
          </a:xfrm>
          <a:prstGeom prst="roundRect">
            <a:avLst>
              <a:gd name="adj" fmla="val 4321"/>
            </a:avLst>
          </a:prstGeom>
          <a:solidFill>
            <a:srgbClr val="2A363B"/>
          </a:solidFill>
          <a:ln w="12700">
            <a:solidFill>
              <a:srgbClr val="545E63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493008" y="2313432"/>
            <a:ext cx="365760" cy="365760"/>
          </a:xfrm>
          <a:prstGeom prst="ellipse">
            <a:avLst/>
          </a:prstGeom>
          <a:solidFill>
            <a:srgbClr val="7FB3C2"/>
          </a:solidFill>
          <a:ln>
            <a:solidFill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493008" y="2313432"/>
            <a:ext cx="36576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F21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GT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950208" y="2276856"/>
            <a:ext cx="1947672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Gate Agent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493008" y="2770632"/>
            <a:ext cx="2395728" cy="77724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Policy-as-code enforcement; exception register.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08192" y="2148840"/>
            <a:ext cx="2724912" cy="1481328"/>
          </a:xfrm>
          <a:prstGeom prst="roundRect">
            <a:avLst>
              <a:gd name="adj" fmla="val 4321"/>
            </a:avLst>
          </a:prstGeom>
          <a:solidFill>
            <a:srgbClr val="2A363B"/>
          </a:solidFill>
          <a:ln w="12700">
            <a:solidFill>
              <a:srgbClr val="545E63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272784" y="2313432"/>
            <a:ext cx="365760" cy="365760"/>
          </a:xfrm>
          <a:prstGeom prst="ellipse">
            <a:avLst/>
          </a:prstGeom>
          <a:solidFill>
            <a:srgbClr val="6FBF8B"/>
          </a:solidFill>
          <a:ln>
            <a:solidFill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272784" y="2313432"/>
            <a:ext cx="36576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F21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LS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29984" y="2276856"/>
            <a:ext cx="1947672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Landscape Agent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72784" y="2770632"/>
            <a:ext cx="2395728" cy="77724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Infra/integration discovery; drift detection.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887968" y="2148840"/>
            <a:ext cx="2724912" cy="1481328"/>
          </a:xfrm>
          <a:prstGeom prst="roundRect">
            <a:avLst>
              <a:gd name="adj" fmla="val 4321"/>
            </a:avLst>
          </a:prstGeom>
          <a:solidFill>
            <a:srgbClr val="2A363B"/>
          </a:solidFill>
          <a:ln w="12700">
            <a:solidFill>
              <a:srgbClr val="545E63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052560" y="2313432"/>
            <a:ext cx="365760" cy="365760"/>
          </a:xfrm>
          <a:prstGeom prst="ellipse">
            <a:avLst/>
          </a:prstGeom>
          <a:solidFill>
            <a:srgbClr val="6FBF8B"/>
          </a:solidFill>
          <a:ln>
            <a:solidFill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052560" y="2313432"/>
            <a:ext cx="36576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F21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AS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509760" y="2276856"/>
            <a:ext cx="1947672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Assessment Agent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052560" y="2770632"/>
            <a:ext cx="2395728" cy="77724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Structured, scored design reviews.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3685032"/>
            <a:ext cx="2724912" cy="1481328"/>
          </a:xfrm>
          <a:prstGeom prst="roundRect">
            <a:avLst>
              <a:gd name="adj" fmla="val 4321"/>
            </a:avLst>
          </a:prstGeom>
          <a:solidFill>
            <a:srgbClr val="2A363B"/>
          </a:solidFill>
          <a:ln w="12700">
            <a:solidFill>
              <a:srgbClr val="545E63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713232" y="3849624"/>
            <a:ext cx="365760" cy="365760"/>
          </a:xfrm>
          <a:prstGeom prst="ellipse">
            <a:avLst/>
          </a:prstGeom>
          <a:solidFill>
            <a:srgbClr val="E3A253"/>
          </a:solidFill>
          <a:ln>
            <a:solidFill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13232" y="3849624"/>
            <a:ext cx="36576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F21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PF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70432" y="3813048"/>
            <a:ext cx="1947672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Portfolio Agent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13232" y="4306824"/>
            <a:ext cx="2395728" cy="77724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TIME analysis — Tolerate/Invest/Migrate/Eliminate.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28416" y="3685032"/>
            <a:ext cx="2724912" cy="1481328"/>
          </a:xfrm>
          <a:prstGeom prst="roundRect">
            <a:avLst>
              <a:gd name="adj" fmla="val 4321"/>
            </a:avLst>
          </a:prstGeom>
          <a:solidFill>
            <a:srgbClr val="2A363B"/>
          </a:solidFill>
          <a:ln w="12700">
            <a:solidFill>
              <a:srgbClr val="545E63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3493008" y="3849624"/>
            <a:ext cx="365760" cy="365760"/>
          </a:xfrm>
          <a:prstGeom prst="ellipse">
            <a:avLst/>
          </a:prstGeom>
          <a:solidFill>
            <a:srgbClr val="E3A253"/>
          </a:solidFill>
          <a:ln>
            <a:solidFill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3493008" y="3849624"/>
            <a:ext cx="36576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F21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RM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950208" y="3813048"/>
            <a:ext cx="1947672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Roadmap Agent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3493008" y="4306824"/>
            <a:ext cx="2395728" cy="77724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Re-baselines roadmaps against real progress.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08192" y="3685032"/>
            <a:ext cx="2724912" cy="1481328"/>
          </a:xfrm>
          <a:prstGeom prst="roundRect">
            <a:avLst>
              <a:gd name="adj" fmla="val 4321"/>
            </a:avLst>
          </a:prstGeom>
          <a:solidFill>
            <a:srgbClr val="2A363B"/>
          </a:solidFill>
          <a:ln w="12700">
            <a:solidFill>
              <a:srgbClr val="545E63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6272784" y="3849624"/>
            <a:ext cx="365760" cy="365760"/>
          </a:xfrm>
          <a:prstGeom prst="ellipse">
            <a:avLst/>
          </a:prstGeom>
          <a:solidFill>
            <a:srgbClr val="E3A253"/>
          </a:solidFill>
          <a:ln>
            <a:solidFill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272784" y="3849624"/>
            <a:ext cx="36576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F21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PT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729984" y="3813048"/>
            <a:ext cx="1947672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Pattern Agent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272784" y="4306824"/>
            <a:ext cx="2395728" cy="77724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Mines and retires reusable patterns.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887968" y="3685032"/>
            <a:ext cx="2724912" cy="1481328"/>
          </a:xfrm>
          <a:prstGeom prst="roundRect">
            <a:avLst>
              <a:gd name="adj" fmla="val 4321"/>
            </a:avLst>
          </a:prstGeom>
          <a:solidFill>
            <a:srgbClr val="2A363B"/>
          </a:solidFill>
          <a:ln w="12700">
            <a:solidFill>
              <a:srgbClr val="545E63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9052560" y="3849624"/>
            <a:ext cx="365760" cy="365760"/>
          </a:xfrm>
          <a:prstGeom prst="ellipse">
            <a:avLst/>
          </a:prstGeom>
          <a:solidFill>
            <a:srgbClr val="E08585"/>
          </a:solidFill>
          <a:ln>
            <a:solidFill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9052560" y="3849624"/>
            <a:ext cx="36576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F21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CP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509760" y="3813048"/>
            <a:ext cx="1947672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Capability Agent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9052560" y="4306824"/>
            <a:ext cx="2395728" cy="77724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Capability heat-mapping vs. strategic priority.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48640" y="5221224"/>
            <a:ext cx="2724912" cy="1481328"/>
          </a:xfrm>
          <a:prstGeom prst="roundRect">
            <a:avLst>
              <a:gd name="adj" fmla="val 4321"/>
            </a:avLst>
          </a:prstGeom>
          <a:solidFill>
            <a:srgbClr val="2A363B"/>
          </a:solidFill>
          <a:ln w="12700">
            <a:solidFill>
              <a:srgbClr val="545E63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713232" y="5385816"/>
            <a:ext cx="365760" cy="365760"/>
          </a:xfrm>
          <a:prstGeom prst="ellipse">
            <a:avLst/>
          </a:prstGeom>
          <a:solidFill>
            <a:srgbClr val="E08585"/>
          </a:solidFill>
          <a:ln>
            <a:solidFill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713232" y="5385816"/>
            <a:ext cx="36576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F21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170432" y="5349240"/>
            <a:ext cx="1947672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Principles Agent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713232" y="5843016"/>
            <a:ext cx="2395728" cy="77724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Flags principle drift; drives refresh.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328416" y="5221224"/>
            <a:ext cx="2724912" cy="1481328"/>
          </a:xfrm>
          <a:prstGeom prst="roundRect">
            <a:avLst>
              <a:gd name="adj" fmla="val 4321"/>
            </a:avLst>
          </a:prstGeom>
          <a:solidFill>
            <a:srgbClr val="2A363B"/>
          </a:solidFill>
          <a:ln w="12700">
            <a:solidFill>
              <a:srgbClr val="545E63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3493008" y="5385816"/>
            <a:ext cx="365760" cy="365760"/>
          </a:xfrm>
          <a:prstGeom prst="ellipse">
            <a:avLst/>
          </a:prstGeom>
          <a:solidFill>
            <a:srgbClr val="E08585"/>
          </a:solidFill>
          <a:ln>
            <a:solidFill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3493008" y="5385816"/>
            <a:ext cx="36576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F21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TR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950208" y="5349240"/>
            <a:ext cx="1947672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Transformation Agent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3493008" y="5843016"/>
            <a:ext cx="2395728" cy="77724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Tracks multi-quarter programmes and benefits.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108192" y="5221224"/>
            <a:ext cx="2724912" cy="1481328"/>
          </a:xfrm>
          <a:prstGeom prst="roundRect">
            <a:avLst>
              <a:gd name="adj" fmla="val 4321"/>
            </a:avLst>
          </a:prstGeom>
          <a:solidFill>
            <a:srgbClr val="2A363B"/>
          </a:solidFill>
          <a:ln w="12700">
            <a:solidFill>
              <a:srgbClr val="545E63"/>
            </a:solidFill>
            <a:prstDash val="solid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6272784" y="5385816"/>
            <a:ext cx="365760" cy="365760"/>
          </a:xfrm>
          <a:prstGeom prst="ellipse">
            <a:avLst/>
          </a:prstGeom>
          <a:solidFill>
            <a:srgbClr val="A8A17B"/>
          </a:solidFill>
          <a:ln>
            <a:solidFill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6272784" y="5385816"/>
            <a:ext cx="36576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F21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BP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729984" y="5349240"/>
            <a:ext cx="1947672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Blueprint Agent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6272784" y="5843016"/>
            <a:ext cx="2395728" cy="77724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Annual synthesis into the EA blueprint.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8887968" y="5221224"/>
            <a:ext cx="2724912" cy="1481328"/>
          </a:xfrm>
          <a:prstGeom prst="roundRect">
            <a:avLst>
              <a:gd name="adj" fmla="val 4321"/>
            </a:avLst>
          </a:prstGeom>
          <a:solidFill>
            <a:srgbClr val="2A363B"/>
          </a:solidFill>
          <a:ln w="12700">
            <a:solidFill>
              <a:srgbClr val="545E63"/>
            </a:solidFill>
            <a:prstDash val="solid"/>
          </a:ln>
        </p:spPr>
        <p:txBody>
          <a:bodyPr/>
          <a:p/>
        </p:txBody>
      </p:sp>
      <p:sp>
        <p:nvSpPr>
          <p:cNvPr id="65" name="Shape 63"/>
          <p:cNvSpPr/>
          <p:nvPr/>
        </p:nvSpPr>
        <p:spPr>
          <a:xfrm>
            <a:off x="9052560" y="5385816"/>
            <a:ext cx="365760" cy="365760"/>
          </a:xfrm>
          <a:prstGeom prst="ellipse">
            <a:avLst/>
          </a:prstGeom>
          <a:solidFill>
            <a:srgbClr val="A8A17B"/>
          </a:solidFill>
          <a:ln>
            <a:solidFill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9052560" y="5385816"/>
            <a:ext cx="36576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F21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NA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9509760" y="5349240"/>
            <a:ext cx="1947672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Narrative Agent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9052560" y="5843016"/>
            <a:ext cx="2395728" cy="77724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Drafts white papers from the year's data.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70" name="Picture 69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3360" y="274320"/>
            <a:ext cx="402551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F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A8CC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GOVERNANCE ACCESS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Cambria" pitchFamily="34" charset="-122"/>
                <a:cs typeface="Cambria" pitchFamily="34" charset="-120"/>
              </a:rPr>
              <a:t>Every role meets the mesh at its own cadence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603504"/>
          </a:xfrm>
          <a:prstGeom prst="rect">
            <a:avLst/>
          </a:prstGeom>
          <a:solidFill>
            <a:srgbClr val="2C3234"/>
          </a:solidFill>
          <a:ln>
            <a:solidFill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371600"/>
            <a:ext cx="2651760" cy="60350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Solution Architects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520440" y="152704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1C1F21"/>
          </a:solidFill>
          <a:ln w="12700">
            <a:solidFill>
              <a:srgbClr val="7FB3C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20440" y="1527048"/>
            <a:ext cx="173736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FB3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DAILY / WEEKLY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0" y="1371600"/>
            <a:ext cx="5943600" cy="60350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Chat interface into Gate &amp; Assessment Agents — cited policy and pattern reference on demand.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975104"/>
            <a:ext cx="2651760" cy="60350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Engineering Managers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520440" y="2130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1C1F21"/>
          </a:solidFill>
          <a:ln w="12700">
            <a:solidFill>
              <a:srgbClr val="7FB3C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520440" y="2130552"/>
            <a:ext cx="173736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FB3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DAILY / WEEKLY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486400" y="1975104"/>
            <a:ext cx="5943600" cy="60350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Health and drift digests; escalation alerts on critical asset degradation.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578608"/>
            <a:ext cx="11064240" cy="603504"/>
          </a:xfrm>
          <a:prstGeom prst="rect">
            <a:avLst/>
          </a:prstGeom>
          <a:solidFill>
            <a:srgbClr val="2C3234"/>
          </a:solidFill>
          <a:ln>
            <a:solidFill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31520" y="2578608"/>
            <a:ext cx="2651760" cy="60350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Product Owners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520440" y="2734056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1C1F21"/>
          </a:solidFill>
          <a:ln w="12700">
            <a:solidFill>
              <a:srgbClr val="E3A25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520440" y="2734056"/>
            <a:ext cx="173736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3A253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486400" y="2578608"/>
            <a:ext cx="5943600" cy="60350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Portfolio/roadmap pack — approve TIME recommendations, not just view them.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182112"/>
            <a:ext cx="2651760" cy="60350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Heads Of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520440" y="333756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1C1F21"/>
          </a:solidFill>
          <a:ln w="12700">
            <a:solidFill>
              <a:srgbClr val="E3A25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520440" y="3337560"/>
            <a:ext cx="173736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3A253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MONTHLY / QUARTERLY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486400" y="3182112"/>
            <a:ext cx="5943600" cy="60350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Portfolio health and capability heat-map for investment sign-off.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785616"/>
            <a:ext cx="11064240" cy="603504"/>
          </a:xfrm>
          <a:prstGeom prst="rect">
            <a:avLst/>
          </a:prstGeom>
          <a:solidFill>
            <a:srgbClr val="2C3234"/>
          </a:solidFill>
          <a:ln>
            <a:solidFill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31520" y="3785616"/>
            <a:ext cx="2651760" cy="60350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General Managers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520440" y="3941064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1C1F21"/>
          </a:solidFill>
          <a:ln w="12700">
            <a:solidFill>
              <a:srgbClr val="E08585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520440" y="3941064"/>
            <a:ext cx="173736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08585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486400" y="3785616"/>
            <a:ext cx="5943600" cy="60350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Board pack and risk committee view — agent-prepared, human-approved.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4389120"/>
            <a:ext cx="2651760" cy="60350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CxO Stakeholders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520440" y="4544568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1C1F21"/>
          </a:solidFill>
          <a:ln w="12700">
            <a:solidFill>
              <a:srgbClr val="A8A17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520440" y="4544568"/>
            <a:ext cx="173736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A17B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QUARTERLY / YEARLY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486400" y="4389120"/>
            <a:ext cx="5943600" cy="60350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Blueprint, white papers, transformation options with pros/cons and provenance.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992624"/>
            <a:ext cx="11064240" cy="603504"/>
          </a:xfrm>
          <a:prstGeom prst="rect">
            <a:avLst/>
          </a:prstGeom>
          <a:solidFill>
            <a:srgbClr val="2C3234"/>
          </a:solidFill>
          <a:ln>
            <a:solidFill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31520" y="4992624"/>
            <a:ext cx="2651760" cy="60350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External Consultants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3520440" y="514807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1C1F21"/>
          </a:solidFill>
          <a:ln w="12700">
            <a:solidFill>
              <a:srgbClr val="B7BEC2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3520440" y="5148072"/>
            <a:ext cx="173736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ON-DEMAND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486400" y="4992624"/>
            <a:ext cx="5943600" cy="60350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Scoped read access to the governance register — full audit trail, no write access.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1520" y="5596128"/>
            <a:ext cx="2651760" cy="60350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Auditors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3520440" y="5751576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1C1F21"/>
          </a:solidFill>
          <a:ln w="12700">
            <a:solidFill>
              <a:srgbClr val="B7BEC2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3520440" y="5751576"/>
            <a:ext cx="1737360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ON-DEMAND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486400" y="5596128"/>
            <a:ext cx="5943600" cy="60350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Immutable log of every gate decision and override, with rationale attached.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41" name="Picture 40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3360" y="274320"/>
            <a:ext cx="402551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F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A8CC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GOVERNANCE CONSIDERATIONS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5943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oppins" pitchFamily="34" charset="0"/>
                <a:ea typeface="Cambria" pitchFamily="34" charset="-122"/>
                <a:cs typeface="Cambria" pitchFamily="34" charset="-120"/>
              </a:rPr>
              <a:t>The mesh trades committee latency for machine speed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4846320"/>
          </a:xfrm>
          <a:prstGeom prst="roundRect">
            <a:avLst>
              <a:gd name="adj" fmla="val 1698"/>
            </a:avLst>
          </a:prstGeom>
          <a:solidFill>
            <a:srgbClr val="2A363B"/>
          </a:solidFill>
          <a:ln w="12700">
            <a:solidFill>
              <a:srgbClr val="545E6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691640"/>
            <a:ext cx="457200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7FB3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249424"/>
            <a:ext cx="91440" cy="91440"/>
          </a:xfrm>
          <a:prstGeom prst="ellipse">
            <a:avLst/>
          </a:prstGeom>
          <a:solidFill>
            <a:srgbClr val="7FB3C2"/>
          </a:solidFill>
          <a:ln>
            <a:solidFill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97280" y="2139696"/>
            <a:ext cx="45720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Continuous coverage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97280" y="2414016"/>
            <a:ext cx="4572000" cy="54864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Landscape and health state reflect reality daily, not at the last audit.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3300984"/>
            <a:ext cx="91440" cy="91440"/>
          </a:xfrm>
          <a:prstGeom prst="ellipse">
            <a:avLst/>
          </a:prstGeom>
          <a:solidFill>
            <a:srgbClr val="7FB3C2"/>
          </a:solidFill>
          <a:ln>
            <a:solidFill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97280" y="3191256"/>
            <a:ext cx="45720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Consistent governance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97280" y="3465576"/>
            <a:ext cx="4572000" cy="54864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The same principles are applied identically to every design, every time.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" y="4352544"/>
            <a:ext cx="91440" cy="91440"/>
          </a:xfrm>
          <a:prstGeom prst="ellipse">
            <a:avLst/>
          </a:prstGeom>
          <a:solidFill>
            <a:srgbClr val="7FB3C2"/>
          </a:solidFill>
          <a:ln>
            <a:solidFill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97280" y="4242816"/>
            <a:ext cx="45720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Full provenance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97280" y="4517136"/>
            <a:ext cx="4572000" cy="54864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Every decision cites its data source, policy version and prior precedent.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" y="5404104"/>
            <a:ext cx="91440" cy="91440"/>
          </a:xfrm>
          <a:prstGeom prst="ellipse">
            <a:avLst/>
          </a:prstGeom>
          <a:solidFill>
            <a:srgbClr val="7FB3C2"/>
          </a:solidFill>
          <a:ln>
            <a:solidFill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97280" y="5294376"/>
            <a:ext cx="45720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Faster cycle time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97280" y="5568696"/>
            <a:ext cx="4572000" cy="54864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Design reviews and gate checks move from board-cycle to same-day.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1463040"/>
            <a:ext cx="5394960" cy="4846320"/>
          </a:xfrm>
          <a:prstGeom prst="roundRect">
            <a:avLst>
              <a:gd name="adj" fmla="val 1698"/>
            </a:avLst>
          </a:prstGeom>
          <a:solidFill>
            <a:srgbClr val="2A363B"/>
          </a:solidFill>
          <a:ln w="12700">
            <a:solidFill>
              <a:srgbClr val="545E6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92240" y="1691640"/>
            <a:ext cx="457200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E08585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92240" y="2249424"/>
            <a:ext cx="91440" cy="91440"/>
          </a:xfrm>
          <a:prstGeom prst="ellipse">
            <a:avLst/>
          </a:prstGeom>
          <a:solidFill>
            <a:srgbClr val="E08585"/>
          </a:solidFill>
          <a:ln>
            <a:solidFill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720840" y="2139696"/>
            <a:ext cx="45720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Automation complacency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720840" y="2414016"/>
            <a:ext cx="4572000" cy="54864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Auto-approvals can be rubber-stamped rather than genuinely assessed.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92240" y="3300984"/>
            <a:ext cx="91440" cy="91440"/>
          </a:xfrm>
          <a:prstGeom prst="ellipse">
            <a:avLst/>
          </a:prstGeom>
          <a:solidFill>
            <a:srgbClr val="E08585"/>
          </a:solidFill>
          <a:ln>
            <a:solidFill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720840" y="3191256"/>
            <a:ext cx="45720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Principle ossification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720840" y="3465576"/>
            <a:ext cx="4572000" cy="54864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Rules keep being enforced after they've stopped fitting the business.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92240" y="4352544"/>
            <a:ext cx="91440" cy="91440"/>
          </a:xfrm>
          <a:prstGeom prst="ellipse">
            <a:avLst/>
          </a:prstGeom>
          <a:solidFill>
            <a:srgbClr val="E08585"/>
          </a:solidFill>
          <a:ln>
            <a:solidFill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720840" y="4242816"/>
            <a:ext cx="45720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Alert fatigue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720840" y="4517136"/>
            <a:ext cx="4572000" cy="54864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Continuous telemetry can overwhelm humans without tuned thresholds per asset tier.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5404104"/>
            <a:ext cx="91440" cy="91440"/>
          </a:xfrm>
          <a:prstGeom prst="ellipse">
            <a:avLst/>
          </a:prstGeom>
          <a:solidFill>
            <a:srgbClr val="E08585"/>
          </a:solidFill>
          <a:ln>
            <a:solidFill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720840" y="5294376"/>
            <a:ext cx="45720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False confidence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720840" y="5568696"/>
            <a:ext cx="4572000" cy="54864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Agents optimise for what's measurable and can miss strategic or political nuance.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33" name="Picture 32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3360" y="274320"/>
            <a:ext cx="402551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F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A8CC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ADOPTION PATH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5943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oppins" pitchFamily="34" charset="0"/>
                <a:ea typeface="Cambria" pitchFamily="34" charset="-122"/>
                <a:cs typeface="Cambria" pitchFamily="34" charset="-120"/>
              </a:rPr>
              <a:t>Build the mesh bottom-up — start with the fastest loop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058400" cy="36576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A yearly Blueprint Agent with no daily telemetry underneath it is just a faster PowerPoint generator. The value is in the mesh.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06040" cy="3931920"/>
          </a:xfrm>
          <a:prstGeom prst="roundRect">
            <a:avLst>
              <a:gd name="adj" fmla="val 3158"/>
            </a:avLst>
          </a:prstGeom>
          <a:solidFill>
            <a:srgbClr val="2A363B"/>
          </a:solidFill>
          <a:ln w="16510">
            <a:solidFill>
              <a:srgbClr val="7FB3C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2377440"/>
            <a:ext cx="21488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7FB3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214884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0–6 months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214884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oppins" pitchFamily="34" charset="0"/>
                <a:ea typeface="Cambria" pitchFamily="34" charset="-122"/>
                <a:cs typeface="Cambria" pitchFamily="34" charset="-120"/>
              </a:rPr>
              <a:t>Sense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77240" y="3749040"/>
            <a:ext cx="2148840" cy="21031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Daily + Weekly loops only — telemetry and governance gates. Lowest risk, fastest signal on drift and breach.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72968" y="4114800"/>
            <a:ext cx="100584" cy="0"/>
          </a:xfrm>
          <a:prstGeom prst="line">
            <a:avLst/>
          </a:prstGeom>
          <a:noFill/>
          <a:ln w="19050">
            <a:solidFill>
              <a:srgbClr val="545E63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291840" y="2148840"/>
            <a:ext cx="2606040" cy="3931920"/>
          </a:xfrm>
          <a:prstGeom prst="roundRect">
            <a:avLst>
              <a:gd name="adj" fmla="val 3158"/>
            </a:avLst>
          </a:prstGeom>
          <a:solidFill>
            <a:srgbClr val="2A363B"/>
          </a:solidFill>
          <a:ln w="16510">
            <a:solidFill>
              <a:srgbClr val="6FBF8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520440" y="2377440"/>
            <a:ext cx="21488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FBF8B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20440" y="2651760"/>
            <a:ext cx="214884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6–12 months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0440" y="3063240"/>
            <a:ext cx="214884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oppins" pitchFamily="34" charset="0"/>
                <a:ea typeface="Cambria" pitchFamily="34" charset="-122"/>
                <a:cs typeface="Cambria" pitchFamily="34" charset="-120"/>
              </a:rPr>
              <a:t>Adjust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520440" y="3749040"/>
            <a:ext cx="2148840" cy="21031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Add the Monthly loop — portfolio and roadmap agents, still human-approved.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16168" y="4114800"/>
            <a:ext cx="100584" cy="0"/>
          </a:xfrm>
          <a:prstGeom prst="line">
            <a:avLst/>
          </a:prstGeom>
          <a:noFill/>
          <a:ln w="19050">
            <a:solidFill>
              <a:srgbClr val="545E63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035040" y="2148840"/>
            <a:ext cx="2606040" cy="3931920"/>
          </a:xfrm>
          <a:prstGeom prst="roundRect">
            <a:avLst>
              <a:gd name="adj" fmla="val 3158"/>
            </a:avLst>
          </a:prstGeom>
          <a:solidFill>
            <a:srgbClr val="2A363B"/>
          </a:solidFill>
          <a:ln w="16510">
            <a:solidFill>
              <a:srgbClr val="E3A25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263640" y="2377440"/>
            <a:ext cx="21488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E3A253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63640" y="2651760"/>
            <a:ext cx="214884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12–18 months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63640" y="3063240"/>
            <a:ext cx="214884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oppins" pitchFamily="34" charset="0"/>
                <a:ea typeface="Cambria" pitchFamily="34" charset="-122"/>
                <a:cs typeface="Cambria" pitchFamily="34" charset="-120"/>
              </a:rPr>
              <a:t>Realign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263640" y="3749040"/>
            <a:ext cx="2148840" cy="21031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Add the Quarterly loop — formal board pack automation, principles review.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659368" y="4114800"/>
            <a:ext cx="100584" cy="0"/>
          </a:xfrm>
          <a:prstGeom prst="line">
            <a:avLst/>
          </a:prstGeom>
          <a:noFill/>
          <a:ln w="19050">
            <a:solidFill>
              <a:srgbClr val="545E63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778240" y="2148840"/>
            <a:ext cx="2606040" cy="3931920"/>
          </a:xfrm>
          <a:prstGeom prst="roundRect">
            <a:avLst>
              <a:gd name="adj" fmla="val 3158"/>
            </a:avLst>
          </a:prstGeom>
          <a:solidFill>
            <a:srgbClr val="2A363B"/>
          </a:solidFill>
          <a:ln w="16510">
            <a:solidFill>
              <a:srgbClr val="A8A17B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006840" y="2377440"/>
            <a:ext cx="21488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A8A17B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006840" y="2651760"/>
            <a:ext cx="214884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18–24 months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006840" y="3063240"/>
            <a:ext cx="214884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Poppins" pitchFamily="34" charset="0"/>
                <a:ea typeface="Cambria" pitchFamily="34" charset="-122"/>
                <a:cs typeface="Cambria" pitchFamily="34" charset="-120"/>
              </a:rPr>
              <a:t>Reset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006840" y="3749040"/>
            <a:ext cx="2148840" cy="21031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Add the Yearly loop — full blueprint synthesis and transformation proposal generation.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29" name="Picture 28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3360" y="274320"/>
            <a:ext cx="402551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F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A8CC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BUSINESS VALUE LENS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oppins" pitchFamily="34" charset="0"/>
                <a:ea typeface="Cambria" pitchFamily="34" charset="-122"/>
                <a:cs typeface="Cambria" pitchFamily="34" charset="-120"/>
              </a:rPr>
              <a:t>Where the value shows up — and how to measure 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058400" cy="32004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Directional value categories — quantify against your own portfolio baseline before committing to a business case.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39312" cy="2240280"/>
          </a:xfrm>
          <a:prstGeom prst="roundRect">
            <a:avLst>
              <a:gd name="adj" fmla="val 3265"/>
            </a:avLst>
          </a:prstGeom>
          <a:solidFill>
            <a:srgbClr val="2A363B"/>
          </a:solidFill>
          <a:ln w="12700">
            <a:solidFill>
              <a:srgbClr val="545E63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1691640"/>
            <a:ext cx="3639312" cy="64008"/>
          </a:xfrm>
          <a:prstGeom prst="rect">
            <a:avLst/>
          </a:prstGeom>
          <a:solidFill>
            <a:srgbClr val="7FB3C2"/>
          </a:solidFill>
          <a:ln>
            <a:solidFill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49808" y="1874520"/>
            <a:ext cx="3236976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Governance cycle time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2350008"/>
            <a:ext cx="3236976" cy="9144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Design review and exception handling move from board-cycle (weeks) to same-day gate response.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9808" y="3429000"/>
            <a:ext cx="3236976" cy="4572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7FB3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Measure: median time from design submission to governance decision.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70248" y="1691640"/>
            <a:ext cx="3639312" cy="2240280"/>
          </a:xfrm>
          <a:prstGeom prst="roundRect">
            <a:avLst>
              <a:gd name="adj" fmla="val 3265"/>
            </a:avLst>
          </a:prstGeom>
          <a:solidFill>
            <a:srgbClr val="2A363B"/>
          </a:solidFill>
          <a:ln w="12700">
            <a:solidFill>
              <a:srgbClr val="545E63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270248" y="1691640"/>
            <a:ext cx="3639312" cy="64008"/>
          </a:xfrm>
          <a:prstGeom prst="rect">
            <a:avLst/>
          </a:prstGeom>
          <a:solidFill>
            <a:srgbClr val="6FBF8B"/>
          </a:solidFill>
          <a:ln>
            <a:solidFill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471416" y="1874520"/>
            <a:ext cx="3236976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Landscape currency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71416" y="2350008"/>
            <a:ext cx="3236976" cy="9144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Technology landscape maps reflect discovered state weekly instead of at the last audit.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71416" y="3429000"/>
            <a:ext cx="3236976" cy="4572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6FBF8B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Measure: age of landscape data at time of decision-making.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991856" y="1691640"/>
            <a:ext cx="3639312" cy="2240280"/>
          </a:xfrm>
          <a:prstGeom prst="roundRect">
            <a:avLst>
              <a:gd name="adj" fmla="val 3265"/>
            </a:avLst>
          </a:prstGeom>
          <a:solidFill>
            <a:srgbClr val="2A363B"/>
          </a:solidFill>
          <a:ln w="12700">
            <a:solidFill>
              <a:srgbClr val="545E63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991856" y="1691640"/>
            <a:ext cx="3639312" cy="64008"/>
          </a:xfrm>
          <a:prstGeom prst="rect">
            <a:avLst/>
          </a:prstGeom>
          <a:solidFill>
            <a:srgbClr val="E3A253"/>
          </a:solidFill>
          <a:ln>
            <a:solidFill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193024" y="1874520"/>
            <a:ext cx="3236976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Portfolio discipline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93024" y="2350008"/>
            <a:ext cx="3236976" cy="9144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TIME (Tolerate/Invest/Migrate/Eliminate) decisions run as a standing monthly cycle, not an annual scramble.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193024" y="3429000"/>
            <a:ext cx="3236976" cy="4572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E3A253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Measure: % of portfolio with a current TIME classification.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4014216"/>
            <a:ext cx="3639312" cy="2240280"/>
          </a:xfrm>
          <a:prstGeom prst="roundRect">
            <a:avLst>
              <a:gd name="adj" fmla="val 3265"/>
            </a:avLst>
          </a:prstGeom>
          <a:solidFill>
            <a:srgbClr val="2A363B"/>
          </a:solidFill>
          <a:ln w="12700">
            <a:solidFill>
              <a:srgbClr val="545E63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48640" y="4014216"/>
            <a:ext cx="3639312" cy="64008"/>
          </a:xfrm>
          <a:prstGeom prst="rect">
            <a:avLst/>
          </a:prstGeom>
          <a:solidFill>
            <a:srgbClr val="E08585"/>
          </a:solidFill>
          <a:ln>
            <a:solidFill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49808" y="4197096"/>
            <a:ext cx="3236976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Audit readiness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808" y="4672584"/>
            <a:ext cx="3236976" cy="9144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Every governance decision carries provenance — source, policy version, precedent — by default.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9808" y="5751576"/>
            <a:ext cx="3236976" cy="4572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E08585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Measure: time-to-evidence when an auditor requests a decision trail.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70248" y="4014216"/>
            <a:ext cx="3639312" cy="2240280"/>
          </a:xfrm>
          <a:prstGeom prst="roundRect">
            <a:avLst>
              <a:gd name="adj" fmla="val 3265"/>
            </a:avLst>
          </a:prstGeom>
          <a:solidFill>
            <a:srgbClr val="2A363B"/>
          </a:solidFill>
          <a:ln w="12700">
            <a:solidFill>
              <a:srgbClr val="545E63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270248" y="4014216"/>
            <a:ext cx="3639312" cy="64008"/>
          </a:xfrm>
          <a:prstGeom prst="rect">
            <a:avLst/>
          </a:prstGeom>
          <a:solidFill>
            <a:srgbClr val="A8A17B"/>
          </a:solidFill>
          <a:ln>
            <a:solidFill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471416" y="4197096"/>
            <a:ext cx="3236976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Strategic coherence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71416" y="4672584"/>
            <a:ext cx="3236976" cy="9144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The annual blueprint is grounded in a full year of continuous signal, not a workshop snapshot.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471416" y="5751576"/>
            <a:ext cx="3236976" cy="4572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8A17B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Measure: variance between blueprint assumptions and realised portfolio outcomes.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991856" y="4014216"/>
            <a:ext cx="3639312" cy="2240280"/>
          </a:xfrm>
          <a:prstGeom prst="roundRect">
            <a:avLst>
              <a:gd name="adj" fmla="val 3265"/>
            </a:avLst>
          </a:prstGeom>
          <a:solidFill>
            <a:srgbClr val="2A363B"/>
          </a:solidFill>
          <a:ln w="12700">
            <a:solidFill>
              <a:srgbClr val="545E63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7991856" y="4014216"/>
            <a:ext cx="3639312" cy="64008"/>
          </a:xfrm>
          <a:prstGeom prst="rect">
            <a:avLst/>
          </a:prstGeom>
          <a:solidFill>
            <a:srgbClr val="5FA8CC"/>
          </a:solidFill>
          <a:ln>
            <a:solidFill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193024" y="4197096"/>
            <a:ext cx="3236976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Capacity redirection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193024" y="4672584"/>
            <a:ext cx="3236976" cy="9144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Architects and PO time shifts from manual review/reporting toward higher-value design and strategy work.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193024" y="5751576"/>
            <a:ext cx="3236976" cy="45720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FA8CC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Measure: hours per month spent on manual governance reporting, before vs. after.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36" name="Picture 35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3360" y="274320"/>
            <a:ext cx="402551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F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4114800"/>
            <a:ext cx="5486400" cy="5486400"/>
          </a:xfrm>
          <a:prstGeom prst="ellipse">
            <a:avLst/>
          </a:prstGeom>
          <a:solidFill>
            <a:srgbClr val="A8A17B">
              <a:alpha val="10000"/>
            </a:srgbClr>
          </a:solidFill>
          <a:ln>
            <a:solid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1005840"/>
            <a:ext cx="731520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A8CC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10058400" cy="10058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oppins" pitchFamily="34" charset="0"/>
                <a:ea typeface="Cambria" pitchFamily="34" charset="-122"/>
                <a:cs typeface="Cambria" pitchFamily="34" charset="-120"/>
              </a:rPr>
              <a:t>Start with one loop. Prove the signal. Build the mesh.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365760" cy="365760"/>
          </a:xfrm>
          <a:prstGeom prst="ellipse">
            <a:avLst/>
          </a:prstGeom>
          <a:solidFill>
            <a:srgbClr val="5FA8CC"/>
          </a:solidFill>
          <a:ln>
            <a:solidFill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2651760"/>
            <a:ext cx="36576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1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2633472"/>
            <a:ext cx="960120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Stand up the Health and Gate Agents against one critical asset domain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273552"/>
            <a:ext cx="365760" cy="365760"/>
          </a:xfrm>
          <a:prstGeom prst="ellipse">
            <a:avLst/>
          </a:prstGeom>
          <a:solidFill>
            <a:srgbClr val="5FA8CC"/>
          </a:solidFill>
          <a:ln>
            <a:solidFill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3273552"/>
            <a:ext cx="36576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1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3255264"/>
            <a:ext cx="960120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Instrument policy-as-code for the top 5 recurring governance exceptions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895344"/>
            <a:ext cx="365760" cy="365760"/>
          </a:xfrm>
          <a:prstGeom prst="ellipse">
            <a:avLst/>
          </a:prstGeom>
          <a:solidFill>
            <a:srgbClr val="5FA8CC"/>
          </a:solidFill>
          <a:ln>
            <a:solidFill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3895344"/>
            <a:ext cx="36576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1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3877056"/>
            <a:ext cx="960120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Run one Monthly portfolio TIME cycle end-to-end with Product Owners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517136"/>
            <a:ext cx="365760" cy="365760"/>
          </a:xfrm>
          <a:prstGeom prst="ellipse">
            <a:avLst/>
          </a:prstGeom>
          <a:solidFill>
            <a:srgbClr val="5FA8CC"/>
          </a:solidFill>
          <a:ln>
            <a:solidFill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4517136"/>
            <a:ext cx="36576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1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4498848"/>
            <a:ext cx="9601200" cy="4114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Bring the first agent-prepared pack to the Architecture Board for critique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AGENTIC EA OPERATING MODEL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>
            <a:solidFill/>
          </a:ln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EC2"/>
                </a:solidFill>
                <a:latin typeface="Inter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19" name="Picture 18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43360" y="274320"/>
            <a:ext cx="402551" cy="274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Enterprise Architecture Operating Model</dc:title>
  <dc:subject>PptxGenJS Presentation</dc:subject>
  <dc:creator>Enterprise Architecture</dc:creator>
  <cp:lastModifiedBy>Enterprise Architecture</cp:lastModifiedBy>
  <cp:revision>1</cp:revision>
  <dcterms:created xsi:type="dcterms:W3CDTF">2026-07-07T04:16:25Z</dcterms:created>
  <dcterms:modified xsi:type="dcterms:W3CDTF">2026-07-07T04:16:25Z</dcterms:modified>
</cp:coreProperties>
</file>