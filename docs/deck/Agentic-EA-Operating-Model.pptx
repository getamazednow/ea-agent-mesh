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66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256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7576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560320"/>
            <a:ext cx="6400800" cy="6400800"/>
          </a:xfrm>
          <a:prstGeom prst="ellipse">
            <a:avLst/>
          </a:prstGeom>
          <a:solidFill>
            <a:srgbClr val="7FB3C2">
              <a:alpha val="10000"/>
            </a:srgbClr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A8A17B">
              <a:alpha val="10000"/>
            </a:srgbClr>
          </a:solidFill>
          <a:ln>
            <a:solidFill/>
          </a:ln>
        </p:spPr>
        <p:txBody>
          <a:bodyPr/>
          <a:lstStyle/>
          <a:p>
            <a:endParaRPr/>
          </a:p>
        </p:txBody>
      </p:sp>
      <p:pic>
        <p:nvPicPr>
          <p:cNvPr id="17" name="Picture 16" descr="EAMeshCoverPPT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640080" y="137160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ARCHITECTURE · OPERATING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1737360"/>
            <a:ext cx="9601200" cy="19202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clock speeds.</a:t>
            </a:r>
            <a:endParaRPr lang="en-US" sz="4200" dirty="0"/>
          </a:p>
          <a:p>
            <a:pPr marL="0" indent="0">
              <a:buNone/>
            </a:pPr>
            <a:r>
              <a:rPr lang="en-US" sz="4200" b="1" i="1" dirty="0">
                <a:solidFill>
                  <a:srgbClr val="5FA8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continuous practice.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7772400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multi-cadence agent mesh for continuous EA governance — Daily, Weekly, Monthly, Quarterly and Yearly loops running the twelve core artefacts of the practice.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1636295" cy="384048"/>
          </a:xfrm>
          <a:prstGeom prst="roundRect">
            <a:avLst>
              <a:gd name="adj" fmla="val 50000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1636295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ARTEFACTS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0967" y="4892040"/>
            <a:ext cx="1318661" cy="384048"/>
          </a:xfrm>
          <a:prstGeom prst="roundRect">
            <a:avLst>
              <a:gd name="adj" fmla="val 50000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440967" y="4892040"/>
            <a:ext cx="1318661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AGENTS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924220" y="4892040"/>
            <a:ext cx="1424539" cy="384048"/>
          </a:xfrm>
          <a:prstGeom prst="roundRect">
            <a:avLst>
              <a:gd name="adj" fmla="val 50000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924220" y="4892040"/>
            <a:ext cx="1424539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CADENCES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13351" y="4892040"/>
            <a:ext cx="2483318" cy="384048"/>
          </a:xfrm>
          <a:prstGeom prst="roundRect">
            <a:avLst>
              <a:gd name="adj" fmla="val 50000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513351" y="4892040"/>
            <a:ext cx="2483318" cy="38404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STAKEHOLDER GROUPS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6263640"/>
            <a:ext cx="91440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for Executive Review  ·  Solution Architecture, Engineering, Product, Risk &amp; Commercial Committees</a:t>
            </a:r>
            <a:endParaRPr lang="en-US" sz="1050" dirty="0"/>
          </a:p>
        </p:txBody>
      </p:sp>
      <p:pic>
        <p:nvPicPr>
          <p:cNvPr id="16" name="Picture 15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  <p:pic>
        <p:nvPicPr>
          <p:cNvPr id="18" name="Picture 17" descr="badge_keyline_sig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" y="18288"/>
            <a:ext cx="1115568" cy="1115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25880" y="274320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Poppins"/>
              </a:rPr>
              <a:t>Getamazednow AI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8A17B"/>
                </a:solidFill>
                <a:latin typeface="Inter"/>
              </a:rPr>
              <a:t>A Getamazednow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 governance runs on committee time. Technology change doesn't.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2C3234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7BE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Traditional EA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54880" cy="32918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landscape audits, stale within weeks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 or annual blueprint refresh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gates enforced manually, inconsistently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and roadmap reviews reactive, not continuous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lives in someone's memory, not a log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3F474A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FA8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Agentic EA Mesh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606040"/>
            <a:ext cx="4754880" cy="32918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telemetry — landscape reflects reality daily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blueprint synthesised from a full year of real signal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Policy-as-code gates applied identically, every time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rebalancing (TIME) runs monthly as a standing cycle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decision cites its data source and policy version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EA OPERATING MODEL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  <p:pic>
        <p:nvPicPr>
          <p:cNvPr id="12" name="Picture 1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PRINCIPLE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five silos. One mesh with five clock speeds.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9144000" cy="36576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loops generate signal upward. Slower loops set constraints back down.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424160" cy="658368"/>
          </a:xfrm>
          <a:prstGeom prst="roundRect">
            <a:avLst>
              <a:gd name="adj" fmla="val 13889"/>
            </a:avLst>
          </a:prstGeom>
          <a:solidFill>
            <a:srgbClr val="2A363B"/>
          </a:solidFill>
          <a:ln w="19050">
            <a:solidFill>
              <a:srgbClr val="A8A1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13232" y="2139696"/>
            <a:ext cx="219456" cy="219456"/>
          </a:xfrm>
          <a:prstGeom prst="ellipse">
            <a:avLst/>
          </a:prstGeom>
          <a:solidFill>
            <a:srgbClr val="A8A17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51560" y="1920240"/>
            <a:ext cx="201168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0" y="1920240"/>
            <a:ext cx="182880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A8A17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2706624"/>
            <a:ext cx="9326880" cy="658368"/>
          </a:xfrm>
          <a:prstGeom prst="roundRect">
            <a:avLst>
              <a:gd name="adj" fmla="val 13889"/>
            </a:avLst>
          </a:prstGeom>
          <a:solidFill>
            <a:srgbClr val="2A363B"/>
          </a:solidFill>
          <a:ln w="19050">
            <a:solidFill>
              <a:srgbClr val="E0858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261872" y="2926080"/>
            <a:ext cx="219456" cy="219456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600200" y="2706624"/>
            <a:ext cx="201168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0" y="2706624"/>
            <a:ext cx="182880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E0858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Realign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645920" y="3493008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A363B"/>
          </a:solidFill>
          <a:ln w="19050">
            <a:solidFill>
              <a:srgbClr val="E3A2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810512" y="3712464"/>
            <a:ext cx="219456" cy="219456"/>
          </a:xfrm>
          <a:prstGeom prst="ellipse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148840" y="3493008"/>
            <a:ext cx="201168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863840" y="3493008"/>
            <a:ext cx="182880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E3A25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94560" y="4279392"/>
            <a:ext cx="7132320" cy="658368"/>
          </a:xfrm>
          <a:prstGeom prst="roundRect">
            <a:avLst>
              <a:gd name="adj" fmla="val 13889"/>
            </a:avLst>
          </a:prstGeom>
          <a:solidFill>
            <a:srgbClr val="2A363B"/>
          </a:solidFill>
          <a:ln w="19050">
            <a:solidFill>
              <a:srgbClr val="6FB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359152" y="4498848"/>
            <a:ext cx="219456" cy="219456"/>
          </a:xfrm>
          <a:prstGeom prst="ellipse">
            <a:avLst/>
          </a:prstGeom>
          <a:solidFill>
            <a:srgbClr val="6FBF8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697480" y="4279392"/>
            <a:ext cx="201168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0" y="4279392"/>
            <a:ext cx="182880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6FBF8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743200" y="5065776"/>
            <a:ext cx="6035040" cy="658368"/>
          </a:xfrm>
          <a:prstGeom prst="roundRect">
            <a:avLst>
              <a:gd name="adj" fmla="val 13889"/>
            </a:avLst>
          </a:prstGeom>
          <a:solidFill>
            <a:srgbClr val="2A363B"/>
          </a:solidFill>
          <a:ln w="19050">
            <a:solidFill>
              <a:srgbClr val="7FB3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907792" y="5285232"/>
            <a:ext cx="219456" cy="219456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46120" y="5065776"/>
            <a:ext cx="201168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66560" y="5065776"/>
            <a:ext cx="1828800" cy="65836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7FB3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</a:t>
            </a:r>
            <a:r>
              <a:rPr lang="en-US" sz="12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flows up · </a:t>
            </a:r>
            <a:r>
              <a:rPr lang="en-US" sz="1250" b="1" dirty="0">
                <a:solidFill>
                  <a:srgbClr val="A8A1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 </a:t>
            </a:r>
            <a:r>
              <a:rPr lang="en-US" sz="12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down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EA OPERATING MODEL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  <p:pic>
        <p:nvPicPr>
          <p:cNvPr id="28" name="Picture 27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LOOPS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Sense, review, adjust, realign, reset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4526280"/>
          </a:xfrm>
          <a:prstGeom prst="roundRect">
            <a:avLst>
              <a:gd name="adj" fmla="val 3879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2121408" cy="82296"/>
          </a:xfrm>
          <a:prstGeom prst="rect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17556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5740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755648" cy="155448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telemetry. No human decision unless a threshold breaches.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5212080"/>
            <a:ext cx="1755648" cy="2286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544068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Health, Gate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98064" y="1508760"/>
            <a:ext cx="2121408" cy="4526280"/>
          </a:xfrm>
          <a:prstGeom prst="roundRect">
            <a:avLst>
              <a:gd name="adj" fmla="val 3879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798064" y="1508760"/>
            <a:ext cx="2121408" cy="82296"/>
          </a:xfrm>
          <a:prstGeom prst="rect">
            <a:avLst/>
          </a:prstGeom>
          <a:solidFill>
            <a:srgbClr val="6FBF8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980944" y="1783080"/>
            <a:ext cx="17556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6FB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80944" y="205740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80944" y="2697480"/>
            <a:ext cx="1755648" cy="155448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Design-time governance and landscape accuracy.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80944" y="5212080"/>
            <a:ext cx="1755648" cy="2286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80944" y="544068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Landscape, Assessment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47488" y="1508760"/>
            <a:ext cx="2121408" cy="4526280"/>
          </a:xfrm>
          <a:prstGeom prst="roundRect">
            <a:avLst>
              <a:gd name="adj" fmla="val 3879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47488" y="1508760"/>
            <a:ext cx="2121408" cy="82296"/>
          </a:xfrm>
          <a:prstGeom prst="rect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230368" y="1783080"/>
            <a:ext cx="17556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3A2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30368" y="205740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230368" y="2697480"/>
            <a:ext cx="1755648" cy="155448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Tactical rebalancing of investment and delivery.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30368" y="5212080"/>
            <a:ext cx="1755648" cy="2286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30368" y="544068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Portfolio, Roadmap, Pattern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96912" y="1508760"/>
            <a:ext cx="2121408" cy="4526280"/>
          </a:xfrm>
          <a:prstGeom prst="roundRect">
            <a:avLst>
              <a:gd name="adj" fmla="val 3879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296912" y="1508760"/>
            <a:ext cx="2121408" cy="82296"/>
          </a:xfrm>
          <a:prstGeom prst="rect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479792" y="1783080"/>
            <a:ext cx="17556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08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79792" y="205740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Realign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79792" y="2697480"/>
            <a:ext cx="1755648" cy="155448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 governance and strategic recalibration.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479792" y="5212080"/>
            <a:ext cx="1755648" cy="2286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79792" y="544068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Capability, Principles, Transformation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546336" y="1508760"/>
            <a:ext cx="2121408" cy="4526280"/>
          </a:xfrm>
          <a:prstGeom prst="roundRect">
            <a:avLst>
              <a:gd name="adj" fmla="val 3879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546336" y="1508760"/>
            <a:ext cx="2121408" cy="82296"/>
          </a:xfrm>
          <a:prstGeom prst="rect">
            <a:avLst/>
          </a:prstGeom>
          <a:solidFill>
            <a:srgbClr val="A8A17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9729216" y="1783080"/>
            <a:ext cx="17556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A8A1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YEARLY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29216" y="205740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729216" y="2697480"/>
            <a:ext cx="1755648" cy="155448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Strategic reset — synthesis into direction-setting artefacts.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729216" y="5212080"/>
            <a:ext cx="1755648" cy="2286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729216" y="5440680"/>
            <a:ext cx="1755648" cy="5029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Blueprint, Narrative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EA OPERATING 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  <p:pic>
        <p:nvPicPr>
          <p:cNvPr id="41" name="Picture 40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ARTEFACT 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91440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Artefact-to-cadence matrix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51206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7BEC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ARTEFACT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7FB3C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FBF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WEEKLY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A25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MONTHLY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0858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QUARTERLY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A8A17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YEARLY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2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Capability Maps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Technology Landscape Maps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BF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Portfolios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A2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Roadmaps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Health Assessments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B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Architecture Principles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A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Architecture Patterns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A2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Architecture Governance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B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Architecture Assessments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BF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Strategy Transformations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5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A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Strategy White Papers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A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 Architecture Blueprint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6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6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A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382512"/>
            <a:ext cx="54864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Solid = primary cadence   ·   Muted = secondary touch</a:t>
            </a:r>
            <a:endParaRPr lang="en-US" sz="1000" dirty="0"/>
          </a:p>
        </p:txBody>
      </p:sp>
      <p:sp>
        <p:nvSpPr>
          <p:cNvPr id="4" name="Text 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MESH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Thirteen agents, one orchestrator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3F474A"/>
          </a:solidFill>
          <a:ln w="12700">
            <a:solidFill>
              <a:srgbClr val="5FA8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77240" y="1399032"/>
            <a:ext cx="402336" cy="402336"/>
          </a:xfrm>
          <a:prstGeom prst="ellipse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77240" y="1399032"/>
            <a:ext cx="402336" cy="40233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25880" y="1280160"/>
            <a:ext cx="2743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 Agent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25880" y="1536192"/>
            <a:ext cx="99669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Sequences the five loops, routes outputs to the right stakeholder, manages escalation between cadences.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13232" y="2313432"/>
            <a:ext cx="365760" cy="36576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13232" y="2313432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70432" y="2276856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Agent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13232" y="2770632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 telemetry — EOL, vulnerability, performance.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8416" y="2148840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493008" y="2313432"/>
            <a:ext cx="365760" cy="36576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493008" y="2313432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950208" y="2276856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Agent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93008" y="2770632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Policy-as-code enforcement; exception register.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08192" y="2148840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272784" y="2313432"/>
            <a:ext cx="365760" cy="365760"/>
          </a:xfrm>
          <a:prstGeom prst="ellipse">
            <a:avLst/>
          </a:prstGeom>
          <a:solidFill>
            <a:srgbClr val="6FBF8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272784" y="2313432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29984" y="2276856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Landscape Agent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72784" y="2770632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Infra/integration discovery; drift detection.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2148840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052560" y="2313432"/>
            <a:ext cx="365760" cy="365760"/>
          </a:xfrm>
          <a:prstGeom prst="ellipse">
            <a:avLst/>
          </a:prstGeom>
          <a:solidFill>
            <a:srgbClr val="6FBF8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052560" y="2313432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09760" y="2276856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Agent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052560" y="2770632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Structured, scored design reviews.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3685032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13232" y="3849624"/>
            <a:ext cx="365760" cy="365760"/>
          </a:xfrm>
          <a:prstGeom prst="ellipse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13232" y="3849624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70432" y="3813048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Agent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13232" y="4306824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analysis — Tolerate/Invest/Migrate/Eliminate.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328416" y="3685032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493008" y="3849624"/>
            <a:ext cx="365760" cy="365760"/>
          </a:xfrm>
          <a:prstGeom prst="ellipse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493008" y="3849624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950208" y="3813048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Agent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493008" y="4306824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Re-baselines roadmaps against real progress.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08192" y="3685032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6272784" y="3849624"/>
            <a:ext cx="365760" cy="365760"/>
          </a:xfrm>
          <a:prstGeom prst="ellipse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272784" y="3849624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29984" y="3813048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Agent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272784" y="4306824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Mines and retires reusable patterns.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887968" y="3685032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9052560" y="3849624"/>
            <a:ext cx="365760" cy="36576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9052560" y="3849624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509760" y="3813048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Capability Agent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9052560" y="4306824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Capability heat-mapping vs. strategic priority.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48640" y="5221224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713232" y="5385816"/>
            <a:ext cx="365760" cy="36576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13232" y="5385816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170432" y="5349240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Principles Agent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713232" y="5843016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Flags principle drift; drives refresh.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328416" y="5221224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493008" y="5385816"/>
            <a:ext cx="365760" cy="36576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493008" y="5385816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950208" y="5349240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Agent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3493008" y="5843016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Tracks multi-quarter programmes and benefits.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08192" y="5221224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272784" y="5385816"/>
            <a:ext cx="365760" cy="365760"/>
          </a:xfrm>
          <a:prstGeom prst="ellipse">
            <a:avLst/>
          </a:prstGeom>
          <a:solidFill>
            <a:srgbClr val="A8A17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6272784" y="5385816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729984" y="5349240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Blueprint Agent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6272784" y="5843016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synthesis into the EA blueprint.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887968" y="5221224"/>
            <a:ext cx="2724912" cy="1481328"/>
          </a:xfrm>
          <a:prstGeom prst="roundRect">
            <a:avLst>
              <a:gd name="adj" fmla="val 4321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9052560" y="5385816"/>
            <a:ext cx="365760" cy="365760"/>
          </a:xfrm>
          <a:prstGeom prst="ellipse">
            <a:avLst/>
          </a:prstGeom>
          <a:solidFill>
            <a:srgbClr val="A8A17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9052560" y="5385816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509760" y="5349240"/>
            <a:ext cx="1947672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Narrative Agent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9052560" y="5843016"/>
            <a:ext cx="2395728" cy="7772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Drafts white papers from the year's data.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  <p:pic>
        <p:nvPicPr>
          <p:cNvPr id="70" name="Picture 69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ACCESS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role meets the mesh at its own cadence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603504"/>
          </a:xfrm>
          <a:prstGeom prst="rect">
            <a:avLst/>
          </a:prstGeom>
          <a:solidFill>
            <a:srgbClr val="2C3234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 Architects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520440" y="1527048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7FB3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520440" y="1527048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/ WEEKLY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0" y="1371600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interface into Gate &amp; Assessment Agents — cited policy and pattern reference on demand.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975104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Managers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520440" y="2130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7FB3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520440" y="2130552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/ WEEKLY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and drift digests; escalation alerts on critical asset degradation.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578608"/>
            <a:ext cx="11064240" cy="603504"/>
          </a:xfrm>
          <a:prstGeom prst="rect">
            <a:avLst/>
          </a:prstGeom>
          <a:solidFill>
            <a:srgbClr val="2C3234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31520" y="2578608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Owners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520440" y="273405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E3A2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20440" y="2734056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A2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486400" y="2578608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Portfolio/roadmap pack — approve TIME recommendations, not just view them.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182112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Heads Of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20440" y="333756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E3A2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520440" y="3337560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A2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/ QUARTERLY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0" y="3182112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health and capability heat-map for investment sign-off.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85616"/>
            <a:ext cx="11064240" cy="603504"/>
          </a:xfrm>
          <a:prstGeom prst="rect">
            <a:avLst/>
          </a:prstGeom>
          <a:solidFill>
            <a:srgbClr val="2C3234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31520" y="3785616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 Managers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20440" y="3941064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E0858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520440" y="3941064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8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86400" y="3785616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pack and risk committee view — agent-prepared, human-approved.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389120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CxO Stakeholders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520440" y="4544568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A8A1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3520440" y="4544568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8A1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 / YEARLY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486400" y="4389120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Blueprint, white papers, transformation options with pros/cons and provenance.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92624"/>
            <a:ext cx="11064240" cy="603504"/>
          </a:xfrm>
          <a:prstGeom prst="rect">
            <a:avLst/>
          </a:prstGeom>
          <a:solidFill>
            <a:srgbClr val="2C3234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4992624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Consultants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520440" y="514807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B7BE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520440" y="5148072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ON-DEMAND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0" y="4992624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Scoped read access to the governance register — full audit trail, no write access.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1520" y="5596128"/>
            <a:ext cx="265176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520440" y="57515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1C1F21"/>
          </a:solidFill>
          <a:ln w="12700">
            <a:solidFill>
              <a:srgbClr val="B7BE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520440" y="5751576"/>
            <a:ext cx="173736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ON-DEMAND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0" y="5596128"/>
            <a:ext cx="59436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Immutable log of every gate decision and override, with rationale attached.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  <p:pic>
        <p:nvPicPr>
          <p:cNvPr id="41" name="Picture 40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CONSIDERATIONS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mesh trades committee latency for machine speed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4846320"/>
          </a:xfrm>
          <a:prstGeom prst="roundRect">
            <a:avLst>
              <a:gd name="adj" fmla="val 1698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45720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2249424"/>
            <a:ext cx="91440" cy="9144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coverage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97280" y="241401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Landscape and health state reflect reality daily, not at the last audit.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3300984"/>
            <a:ext cx="91440" cy="9144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97280" y="319125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governance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97280" y="346557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principles are applied identically to every design, every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4352544"/>
            <a:ext cx="91440" cy="9144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097280" y="424281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provenance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97280" y="451713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decision cites its data source, policy version and prior precedent.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5404104"/>
            <a:ext cx="91440" cy="91440"/>
          </a:xfrm>
          <a:prstGeom prst="ellipse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529437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cycle time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97280" y="556869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reviews and gate checks move from board-cycle to same-day.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1463040"/>
            <a:ext cx="5394960" cy="4846320"/>
          </a:xfrm>
          <a:prstGeom prst="roundRect">
            <a:avLst>
              <a:gd name="adj" fmla="val 1698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92240" y="1691640"/>
            <a:ext cx="457200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rgbClr val="E08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249424"/>
            <a:ext cx="91440" cy="9144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213969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complacency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20840" y="241401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Auto-approvals can be rubber-stamped rather than genuinely assessed.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92240" y="3300984"/>
            <a:ext cx="91440" cy="9144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720840" y="319125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 ossification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20840" y="346557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keep being enforced after they've stopped fitting the business.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4352544"/>
            <a:ext cx="91440" cy="9144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720840" y="424281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 fatigue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20840" y="451713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telemetry can overwhelm humans without tuned thresholds per asset tier.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5404104"/>
            <a:ext cx="91440" cy="91440"/>
          </a:xfrm>
          <a:prstGeom prst="ellipse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720840" y="5294376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False confidence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20840" y="5568696"/>
            <a:ext cx="4572000" cy="5486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optimise for what's measurable and can miss strategic or political nuance.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  <p:pic>
        <p:nvPicPr>
          <p:cNvPr id="33" name="Picture 3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mesh bottom-up — start with the fastest loop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6576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yearly Blueprint Agent with no daily telemetry underneath it is just a faster PowerPoint generator. The value is in the mesh.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06040" cy="3931920"/>
          </a:xfrm>
          <a:prstGeom prst="roundRect">
            <a:avLst>
              <a:gd name="adj" fmla="val 3158"/>
            </a:avLst>
          </a:prstGeom>
          <a:solidFill>
            <a:srgbClr val="2A363B"/>
          </a:solidFill>
          <a:ln w="16510">
            <a:solidFill>
              <a:srgbClr val="7FB3C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21488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21488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0–6 months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21488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77240" y="3749040"/>
            <a:ext cx="2148840" cy="21031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+ Weekly loops only — telemetry and governance gates. Lowest risk, fastest signal on drift and breach.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72968" y="4114800"/>
            <a:ext cx="100584" cy="0"/>
          </a:xfrm>
          <a:prstGeom prst="line">
            <a:avLst/>
          </a:prstGeom>
          <a:noFill/>
          <a:ln w="1905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91840" y="2148840"/>
            <a:ext cx="2606040" cy="3931920"/>
          </a:xfrm>
          <a:prstGeom prst="roundRect">
            <a:avLst>
              <a:gd name="adj" fmla="val 3158"/>
            </a:avLst>
          </a:prstGeom>
          <a:solidFill>
            <a:srgbClr val="2A363B"/>
          </a:solidFill>
          <a:ln w="16510">
            <a:solidFill>
              <a:srgbClr val="6FB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520440" y="2377440"/>
            <a:ext cx="21488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FB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20440" y="2651760"/>
            <a:ext cx="21488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6–12 months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3063240"/>
            <a:ext cx="21488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520440" y="3749040"/>
            <a:ext cx="2148840" cy="21031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Monthly loop — portfolio and roadmap agents, still human-approved.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16168" y="4114800"/>
            <a:ext cx="100584" cy="0"/>
          </a:xfrm>
          <a:prstGeom prst="line">
            <a:avLst/>
          </a:prstGeom>
          <a:noFill/>
          <a:ln w="1905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606040" cy="3931920"/>
          </a:xfrm>
          <a:prstGeom prst="roundRect">
            <a:avLst>
              <a:gd name="adj" fmla="val 3158"/>
            </a:avLst>
          </a:prstGeom>
          <a:solidFill>
            <a:srgbClr val="2A363B"/>
          </a:solidFill>
          <a:ln w="16510">
            <a:solidFill>
              <a:srgbClr val="E3A2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2377440"/>
            <a:ext cx="21488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E3A2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63640" y="2651760"/>
            <a:ext cx="21488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12–18 months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63640" y="3063240"/>
            <a:ext cx="21488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Realign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263640" y="3749040"/>
            <a:ext cx="2148840" cy="21031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Quarterly loop — formal board pack automation, principles review.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59368" y="4114800"/>
            <a:ext cx="100584" cy="0"/>
          </a:xfrm>
          <a:prstGeom prst="line">
            <a:avLst/>
          </a:prstGeom>
          <a:noFill/>
          <a:ln w="1905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778240" y="2148840"/>
            <a:ext cx="2606040" cy="3931920"/>
          </a:xfrm>
          <a:prstGeom prst="roundRect">
            <a:avLst>
              <a:gd name="adj" fmla="val 3158"/>
            </a:avLst>
          </a:prstGeom>
          <a:solidFill>
            <a:srgbClr val="2A363B"/>
          </a:solidFill>
          <a:ln w="16510">
            <a:solidFill>
              <a:srgbClr val="A8A1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006840" y="2377440"/>
            <a:ext cx="21488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A8A1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06840" y="2651760"/>
            <a:ext cx="214884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18–24 months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006840" y="3063240"/>
            <a:ext cx="214884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006840" y="3749040"/>
            <a:ext cx="2148840" cy="21031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Yearly loop — full blueprint synthesis and transformation proposal generation.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  <p:pic>
        <p:nvPicPr>
          <p:cNvPr id="29" name="Picture 28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 LENS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486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value shows up — and how to measure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0058400" cy="32004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Directional value categories — quantify against your own portfolio baseline before committing to a business case.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39312" cy="64008"/>
          </a:xfrm>
          <a:prstGeom prst="rect">
            <a:avLst/>
          </a:prstGeom>
          <a:solidFill>
            <a:srgbClr val="7FB3C2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87452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cycle time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2350008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review and exception handling move from board-cycle (weeks) to same-day gate response.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342900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FB3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median time from design submission to governance decision.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70248" y="1691640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639312" cy="64008"/>
          </a:xfrm>
          <a:prstGeom prst="rect">
            <a:avLst/>
          </a:prstGeom>
          <a:solidFill>
            <a:srgbClr val="6FBF8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71416" y="187452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Landscape currency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71416" y="2350008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landscape maps reflect discovered state weekly instead of at the last audit.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71416" y="342900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6FBF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age of landscape data at time of decision-making.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991856" y="1691640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91856" y="1691640"/>
            <a:ext cx="3639312" cy="64008"/>
          </a:xfrm>
          <a:prstGeom prst="rect">
            <a:avLst/>
          </a:prstGeom>
          <a:solidFill>
            <a:srgbClr val="E3A253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93024" y="187452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discipline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3024" y="2350008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(Tolerate/Invest/Migrate/Eliminate) decisions run as a standing monthly cycle, not an annual scramble.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93024" y="3429000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E3A2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% of portfolio with a current TIME classification.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014216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48640" y="4014216"/>
            <a:ext cx="3639312" cy="64008"/>
          </a:xfrm>
          <a:prstGeom prst="rect">
            <a:avLst/>
          </a:prstGeom>
          <a:solidFill>
            <a:srgbClr val="E08585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49808" y="419709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readiness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4672584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governance decision carries provenance — source, policy version, precedent — by default.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9808" y="575157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E085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time-to-evidence when an auditor requests a decision trail.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70248" y="4014216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270248" y="4014216"/>
            <a:ext cx="3639312" cy="64008"/>
          </a:xfrm>
          <a:prstGeom prst="rect">
            <a:avLst/>
          </a:prstGeom>
          <a:solidFill>
            <a:srgbClr val="A8A17B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471416" y="419709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Strategic coherence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471416" y="4672584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annual blueprint is grounded in a full year of continuous signal, not a workshop snapshot.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71416" y="575157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8A1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variance between blueprint assumptions and realised portfolio outcomes.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991856" y="4014216"/>
            <a:ext cx="3639312" cy="2240280"/>
          </a:xfrm>
          <a:prstGeom prst="roundRect">
            <a:avLst>
              <a:gd name="adj" fmla="val 3265"/>
            </a:avLst>
          </a:prstGeom>
          <a:solidFill>
            <a:srgbClr val="2A363B"/>
          </a:solidFill>
          <a:ln w="12700">
            <a:solidFill>
              <a:srgbClr val="545E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991856" y="4014216"/>
            <a:ext cx="3639312" cy="64008"/>
          </a:xfrm>
          <a:prstGeom prst="rect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193024" y="419709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redirection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93024" y="4672584"/>
            <a:ext cx="3236976" cy="9144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Architects and PO time shifts from manual review/reporting toward higher-value design and strategy work.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93024" y="5751576"/>
            <a:ext cx="3236976" cy="45720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Measure: hours per month spent on manual governance reporting, before vs. after.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  <p:pic>
        <p:nvPicPr>
          <p:cNvPr id="36" name="Picture 35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4114800"/>
            <a:ext cx="5486400" cy="5486400"/>
          </a:xfrm>
          <a:prstGeom prst="ellipse">
            <a:avLst/>
          </a:prstGeom>
          <a:solidFill>
            <a:srgbClr val="A8A17B">
              <a:alpha val="10000"/>
            </a:srgbClr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73152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A8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058400" cy="1005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with one loop. Prove the signal. Build the mesh.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365760" cy="365760"/>
          </a:xfrm>
          <a:prstGeom prst="ellipse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633472"/>
            <a:ext cx="9601200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 up the Health and Gate Agents against one critical asset domain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73552"/>
            <a:ext cx="365760" cy="365760"/>
          </a:xfrm>
          <a:prstGeom prst="ellipse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273552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255264"/>
            <a:ext cx="9601200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policy-as-code for the top 5 recurring governance exceptions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95344"/>
            <a:ext cx="365760" cy="365760"/>
          </a:xfrm>
          <a:prstGeom prst="ellipse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3895344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877056"/>
            <a:ext cx="9601200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one Monthly portfolio TIME cycle end-to-end with Product Owners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365760" cy="365760"/>
          </a:xfrm>
          <a:prstGeom prst="ellipse">
            <a:avLst/>
          </a:prstGeom>
          <a:solidFill>
            <a:srgbClr val="5FA8CC"/>
          </a:solidFill>
          <a:ln>
            <a:solidFill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" y="4517136"/>
            <a:ext cx="3657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F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498848"/>
            <a:ext cx="9601200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first agent-prepared pack to the Architecture Board for critique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EA OPERATING MODEL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>
            <a:solid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E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  <p:pic>
        <p:nvPicPr>
          <p:cNvPr id="19" name="Picture 18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360" y="274320"/>
            <a:ext cx="402551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FA8CC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1199</Words>
  <Application>Microsoft Macintosh PowerPoint</Application>
  <PresentationFormat>Widescreen</PresentationFormat>
  <Paragraphs>249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Inter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Enterprise Architecture Operating Model</dc:title>
  <dc:subject>PptxGenJS Presentation</dc:subject>
  <dc:creator>Enterprise Architecture</dc:creator>
  <cp:lastModifiedBy>Duane Gomes</cp:lastModifiedBy>
  <cp:revision>2</cp:revision>
  <dcterms:created xsi:type="dcterms:W3CDTF">2026-07-07T04:16:25Z</dcterms:created>
  <dcterms:modified xsi:type="dcterms:W3CDTF">2026-07-16T00:24:41Z</dcterms:modified>
</cp:coreProperties>
</file>